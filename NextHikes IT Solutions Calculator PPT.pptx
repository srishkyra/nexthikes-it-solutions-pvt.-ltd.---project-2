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9" r:id="rId2"/>
    <p:sldId id="262" r:id="rId3"/>
    <p:sldId id="269" r:id="rId4"/>
    <p:sldId id="273" r:id="rId5"/>
    <p:sldId id="263" r:id="rId6"/>
    <p:sldId id="264" r:id="rId7"/>
    <p:sldId id="270" r:id="rId8"/>
    <p:sldId id="265" r:id="rId9"/>
    <p:sldId id="261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5754"/>
    <a:srgbClr val="0A6B60"/>
    <a:srgbClr val="1B9F90"/>
    <a:srgbClr val="D2D2D7"/>
    <a:srgbClr val="090909"/>
    <a:srgbClr val="2A2C2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39"/>
    <p:restoredTop sz="86439"/>
  </p:normalViewPr>
  <p:slideViewPr>
    <p:cSldViewPr snapToGrid="0">
      <p:cViewPr varScale="1">
        <p:scale>
          <a:sx n="98" d="100"/>
          <a:sy n="98" d="100"/>
        </p:scale>
        <p:origin x="320" y="184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84296B-E322-E547-BFC9-385D0DE21BCD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AD786-6490-B341-9919-2F40EDE37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7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C158-04CB-5909-E633-C9AAED418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419EE-9C0E-CFFB-97B9-E652DA6E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A9C6E-9058-18C1-84A1-B4D31B06A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A1B29-8329-9157-D2CF-61B07611B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09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E879-98E6-3F09-0084-0B1120F0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91D90-CD5C-7C97-9968-1BEDAA92E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89B0D-5568-2C67-4A2C-E276D2A6A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1F06F-95A7-16F6-A6B1-CD0FE7ADD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3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2773-2AE2-5909-C32B-4C45AFF9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687FD-FE75-64A4-D0C6-CA5498E51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E7379-918F-2B55-5B2E-0629FF2E4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1C4BF-D33B-67E8-2659-531B96A7F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70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5441-0B39-9F10-96FE-22EE685E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24D82-5EFA-F65D-167D-883B18371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30D2F-5200-86FD-42F9-792AAFEC9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BCF03-F4F7-1E77-162B-46194B1F7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39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D1BB-1A59-EAD9-5790-CE2AF4A08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A754E-200D-4B20-4178-F66D0C12B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34E20-66E7-C4F1-6A37-51C7FA23A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0189F-72B7-B0E1-AC5F-CD4A624AD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98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8F40-5B45-237B-77D6-80224C5C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F7732-3452-29DD-16D3-3117EC2A4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B15EC-F8A0-8A66-4780-0CE2FB64B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73BBE-C773-6DC9-32B2-D5A0B59B0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66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C328-17A5-9FC0-AD16-4A945749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14498-1F5A-5FE7-3117-AF4D84612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4C019-79E8-D83A-393F-B5494CFFA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FFF7E-FD7D-D244-0431-D1CD9E268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71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B0522-7391-9946-4533-22A3B23A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0A27D-34DD-97DC-0108-3BBD89509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8E806-5DE2-3772-BB4D-53A12F8DA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FF9AE-D5F1-8BD0-62F7-3DF85DF49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59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CFC2-55CB-9B56-8606-6F66C4CB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86FE3-73A1-45F1-5C1C-3F9874D29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BC5F6-AF13-ABA6-9DFB-C7BB8972E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F7CE8-7F24-3A62-1672-2A8C71B8D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39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CE1A7-7626-852D-13EA-7B1A0BF4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ECF8E-EA24-1BAE-7FF5-F6D49CEEF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6CDCA-6C04-3B81-8893-E60E3B946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315D0-7FF7-0631-98F4-0DC4C6E46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42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1A05-F31C-3CDE-DC59-35C9BCD3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3150C-2ACE-0BC8-2751-5617E5804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6B49C-EA0B-B62B-E801-111B1959A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2BE0-6FCE-ED92-6C6F-F3E30EC01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AD786-6490-B341-9919-2F40EDE37E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2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C754-7831-6B5B-1BAA-4A047DE32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F4784-F66B-BB42-5923-5C5CFB755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5EFEE-B1D5-9BCB-193A-5A8E9437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FD93C-7736-2F53-5E0E-FC33F888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0C0A3-F138-6E07-C152-755B8255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0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86CAE-1787-3B2A-0DFA-B36E1FDF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B936-EFF7-AF31-7C90-344B3C3FC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1A923-8B01-AF8B-668E-EFD1781E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37E8F-BA44-DA2D-13BC-02E78065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35D97-01F9-3E4B-009B-E1CC2F13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2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E46E-8336-4F05-1127-4C0DD913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51939-FF3A-A869-9F18-44619F895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25656-F107-FAE7-6CE9-2EA4B873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854D0-8943-6373-1A3B-5ECFD313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242DB-4E5E-0B6C-8BEE-3E0BE4D2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3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A43C-CF2E-E009-A01A-4641AE95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1D4F4-7887-4A23-07FD-8C190563D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FA7C7-3159-6DF0-F9B1-8D93A8B5A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F900A-27DC-3F24-3CFC-A416CF4F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197B8-A43B-5D1B-9099-7C5C38E17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FC58F-6144-7EBF-82CA-F2C01B82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94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3BF5-010A-939C-0E52-62E090418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483A-299D-83E8-D679-C90CEA7FA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FFCB4-EA91-D758-B865-8B4048C4D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438179-12E1-2455-3B34-50BBAD6CC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1961E6-E97A-88C5-317C-2B4F5082C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6095D-C2B2-79A4-8D4B-579FCDB2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793859-3398-AF08-E53E-7A8D80FA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FD0F6-9113-3DC0-E249-519EF333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6D80-09E5-37D1-3578-EE7B41A4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38575-0970-3ECB-0D08-FE0EF1BB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5544F-0022-1364-EA55-68623EBB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803CA-2AFD-586E-2449-CF680EE1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9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F1FB7-0BB6-7628-A694-23B41CC4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1EEFD-930F-A15C-102B-95A57319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CD7D4-0D5D-784E-C2AB-0370D69D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0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BE40-8160-87B3-2BC7-9D3EE06F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1CC78-86EB-6BBC-B156-7CF9F37E0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FA3EF-1979-2544-B511-464C917A2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D949A-0B8C-1651-A0D7-8C935DA4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B2842-B630-9957-7288-E944DBEB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EEA52-7CA3-8181-E097-C20118B3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1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B465-6C83-F8E8-1C71-342D8DD8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ED1E4-9D4E-BE46-1C8F-BD75CF737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93E5D-0F65-8A50-9D99-80B469EDF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D0F14-B5AA-20EF-F165-214C5430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40C93-8B07-CF9F-1707-6479DD31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77513-7C9A-7152-C580-CE671FB9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4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3207-DDE2-8A28-8A89-1281FFC5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EFF18-23CF-7338-9F4A-CA9D1803D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2462A-CF7F-FF5A-BDEF-0E68447E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FA476-4F43-6777-D5DF-74CC8536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F7393-8874-F1E4-0452-95F7423A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1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14D60D-FE13-7832-2685-9379306E4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88A19-55B8-5F3C-A3EE-2D9E2EB2E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DB989-F64C-AC5F-7D1A-B334CEE9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A400D-FE33-F6C5-8CFA-6CD3765E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759F-F2DF-7BF9-4661-AFC5DEAE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0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46678-FF63-273B-E71E-E57EA498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0DAA3-A680-7389-7688-78641BC8B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94984-27B3-A505-E66E-EBE9BFEA8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ED3EF-2411-324C-B99B-D99D995D6BBF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738E-DC7E-FC3A-A0B1-516F3CF75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B8969-B814-A85D-4EF0-1AFB2F687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54213-3AFB-EF4B-8015-86248E7CB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3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541B-C45E-B271-7B65-2868BAA5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3">
            <a:extLst>
              <a:ext uri="{FF2B5EF4-FFF2-40B4-BE49-F238E27FC236}">
                <a16:creationId xmlns:a16="http://schemas.microsoft.com/office/drawing/2014/main" id="{4F2CE83B-10DB-1B78-5355-B467940D9A95}"/>
              </a:ext>
            </a:extLst>
          </p:cNvPr>
          <p:cNvSpPr/>
          <p:nvPr/>
        </p:nvSpPr>
        <p:spPr>
          <a:xfrm>
            <a:off x="329767" y="877270"/>
            <a:ext cx="42179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UltraCalc</a:t>
            </a:r>
            <a:endParaRPr lang="en-US" sz="8000" dirty="0">
              <a:solidFill>
                <a:srgbClr val="0A6B60"/>
              </a:solidFill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2668C6F2-2AE7-FD48-AF45-6F207C0270F3}"/>
              </a:ext>
            </a:extLst>
          </p:cNvPr>
          <p:cNvSpPr/>
          <p:nvPr/>
        </p:nvSpPr>
        <p:spPr>
          <a:xfrm>
            <a:off x="386231" y="2508612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DCD323AB-C651-AC68-9239-2A5846765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6">
            <a:extLst>
              <a:ext uri="{FF2B5EF4-FFF2-40B4-BE49-F238E27FC236}">
                <a16:creationId xmlns:a16="http://schemas.microsoft.com/office/drawing/2014/main" id="{20082DE6-2741-93AA-8C97-C63EB2889CAA}"/>
              </a:ext>
            </a:extLst>
          </p:cNvPr>
          <p:cNvSpPr/>
          <p:nvPr/>
        </p:nvSpPr>
        <p:spPr>
          <a:xfrm>
            <a:off x="329767" y="2736098"/>
            <a:ext cx="9386404" cy="449362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9525">
            <a:solidFill>
              <a:srgbClr val="0A6B60"/>
            </a:solidFill>
            <a:prstDash val="solid"/>
          </a:ln>
        </p:spPr>
        <p:txBody>
          <a:bodyPr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 professional-grade desktop calculator built entirely in Python &amp; </a:t>
            </a:r>
            <a:r>
              <a:rPr lang="en-US" sz="2000" dirty="0" err="1">
                <a:solidFill>
                  <a:schemeClr val="bg1"/>
                </a:solidFill>
              </a:rPr>
              <a:t>Tkinter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B1CE3-82B6-CFA0-67A9-64FC38221362}"/>
              </a:ext>
            </a:extLst>
          </p:cNvPr>
          <p:cNvSpPr/>
          <p:nvPr/>
        </p:nvSpPr>
        <p:spPr>
          <a:xfrm>
            <a:off x="398207" y="3539211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Calculator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Modes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49E68-1480-507C-3B68-FBD85B1DEA37}"/>
              </a:ext>
            </a:extLst>
          </p:cNvPr>
          <p:cNvSpPr/>
          <p:nvPr/>
        </p:nvSpPr>
        <p:spPr>
          <a:xfrm>
            <a:off x="2815294" y="3539211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Desktop Version</a:t>
            </a:r>
            <a:endParaRPr lang="en-US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AD57A5-F376-49AC-3EC8-A8804B511997}"/>
              </a:ext>
            </a:extLst>
          </p:cNvPr>
          <p:cNvSpPr/>
          <p:nvPr/>
        </p:nvSpPr>
        <p:spPr>
          <a:xfrm>
            <a:off x="5232381" y="3539211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Python 1.14.3 </a:t>
            </a:r>
            <a:endParaRPr lang="en-US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3DAFC6-E38D-88B9-AB0D-5C0419036E5B}"/>
              </a:ext>
            </a:extLst>
          </p:cNvPr>
          <p:cNvSpPr/>
          <p:nvPr/>
        </p:nvSpPr>
        <p:spPr>
          <a:xfrm>
            <a:off x="7649468" y="3539211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Advance Calculations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42FF28F-6D96-BEF0-27DB-82D829CB8553}"/>
              </a:ext>
            </a:extLst>
          </p:cNvPr>
          <p:cNvSpPr/>
          <p:nvPr/>
        </p:nvSpPr>
        <p:spPr>
          <a:xfrm>
            <a:off x="2796065" y="6477239"/>
            <a:ext cx="4289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Scientific Calculator — Built with Python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8A8D28-C97C-F01A-348B-72B10781010F}"/>
              </a:ext>
            </a:extLst>
          </p:cNvPr>
          <p:cNvSpPr/>
          <p:nvPr/>
        </p:nvSpPr>
        <p:spPr>
          <a:xfrm>
            <a:off x="398207" y="4230935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CSV Export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8498A9-C348-2A61-23CE-AB530E399F33}"/>
              </a:ext>
            </a:extLst>
          </p:cNvPr>
          <p:cNvSpPr/>
          <p:nvPr/>
        </p:nvSpPr>
        <p:spPr>
          <a:xfrm>
            <a:off x="2815294" y="4225081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&amp; Light Themes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15DA71-4F54-F853-3671-F4AD0C6BA432}"/>
              </a:ext>
            </a:extLst>
          </p:cNvPr>
          <p:cNvSpPr/>
          <p:nvPr/>
        </p:nvSpPr>
        <p:spPr>
          <a:xfrm>
            <a:off x="5232381" y="4225081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Currency Rates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B8D037-2518-059B-0F37-E056A294C1A4}"/>
              </a:ext>
            </a:extLst>
          </p:cNvPr>
          <p:cNvSpPr/>
          <p:nvPr/>
        </p:nvSpPr>
        <p:spPr>
          <a:xfrm>
            <a:off x="7649467" y="4225081"/>
            <a:ext cx="2066704" cy="493372"/>
          </a:xfrm>
          <a:prstGeom prst="rect">
            <a:avLst/>
          </a:prstGeom>
          <a:solidFill>
            <a:srgbClr val="1B9F90"/>
          </a:solidFill>
          <a:ln>
            <a:solidFill>
              <a:srgbClr val="1B9F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macOS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BDFD0522-1B54-8B92-8511-A46FCAE18A30}"/>
              </a:ext>
            </a:extLst>
          </p:cNvPr>
          <p:cNvSpPr/>
          <p:nvPr/>
        </p:nvSpPr>
        <p:spPr>
          <a:xfrm>
            <a:off x="9144000" y="6004284"/>
            <a:ext cx="2744713" cy="449362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9525">
            <a:solidFill>
              <a:srgbClr val="0A6B60"/>
            </a:solidFill>
            <a:prstDash val="solid"/>
          </a:ln>
        </p:spPr>
        <p:txBody>
          <a:bodyPr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By: Srishti Sharma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313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D4252-B402-C047-70F3-3BA05C89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57813F2B-0194-ECE2-1C84-FB7937F84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AEA990DC-51A9-5068-1932-3CB19C6CFA32}"/>
              </a:ext>
            </a:extLst>
          </p:cNvPr>
          <p:cNvSpPr/>
          <p:nvPr/>
        </p:nvSpPr>
        <p:spPr>
          <a:xfrm>
            <a:off x="396240" y="291492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Modes, One App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6E4BBA2-0879-02B9-6E95-A4C10ECF92C3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937C0F1-BCDD-BBEE-C97A-5247025E1368}"/>
              </a:ext>
            </a:extLst>
          </p:cNvPr>
          <p:cNvSpPr/>
          <p:nvPr/>
        </p:nvSpPr>
        <p:spPr>
          <a:xfrm>
            <a:off x="384047" y="76534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 is a fully independent calculator — switch instantly from the sidebar</a:t>
            </a:r>
            <a:endParaRPr lang="en-US" sz="1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2D7FD41-3549-80D0-4241-78BA6D8E51AA}"/>
              </a:ext>
            </a:extLst>
          </p:cNvPr>
          <p:cNvSpPr/>
          <p:nvPr/>
        </p:nvSpPr>
        <p:spPr>
          <a:xfrm>
            <a:off x="531270" y="1457655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r>
              <a:rPr lang="en-US" dirty="0"/>
              <a:t> 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 arithmetic with live preview</a:t>
            </a:r>
            <a:endParaRPr lang="en-US" sz="1600" dirty="0"/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477B9BB8-C66D-725C-ADE6-872DD1211DE2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8093A564-4BB2-7390-BD85-CF28074F4E41}"/>
              </a:ext>
            </a:extLst>
          </p:cNvPr>
          <p:cNvSpPr/>
          <p:nvPr/>
        </p:nvSpPr>
        <p:spPr>
          <a:xfrm>
            <a:off x="4321391" y="1457655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</a:t>
            </a:r>
            <a:r>
              <a:rPr lang="en-US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36 functions, memory, 2nd mode</a:t>
            </a:r>
            <a:endParaRPr lang="en-US" sz="1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6A4566D1-F08C-DA23-CC70-970B8F68255C}"/>
              </a:ext>
            </a:extLst>
          </p:cNvPr>
          <p:cNvSpPr/>
          <p:nvPr/>
        </p:nvSpPr>
        <p:spPr>
          <a:xfrm>
            <a:off x="8111512" y="1457655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dirty="0">
                <a:solidFill>
                  <a:srgbClr val="B75754"/>
                </a:solidFill>
              </a:rPr>
              <a:t> </a:t>
            </a:r>
            <a:r>
              <a:rPr lang="en-US" dirty="0"/>
              <a:t>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</a:p>
          <a:p>
            <a:endParaRPr lang="en-US" b="1" dirty="0">
              <a:solidFill>
                <a:srgbClr val="239184"/>
              </a:solidFill>
              <a:latin typeface="Calibri" pitchFamily="34" charset="0"/>
              <a:cs typeface="Calibri" pitchFamily="34" charset="-120"/>
            </a:endParaRPr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Sum, mean, median, mode, std dev, variance, range &amp; geo mean</a:t>
            </a:r>
            <a:endParaRPr lang="en-US" sz="16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65A1AC98-32BD-3ABD-3DD5-A888BA6D64CE}"/>
              </a:ext>
            </a:extLst>
          </p:cNvPr>
          <p:cNvSpPr/>
          <p:nvPr/>
        </p:nvSpPr>
        <p:spPr>
          <a:xfrm>
            <a:off x="531270" y="3064537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r>
              <a:rPr lang="en-US" dirty="0"/>
              <a:t> 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cs typeface="Calibri" pitchFamily="34" charset="-120"/>
              </a:rPr>
              <a:t>Health</a:t>
            </a:r>
            <a:endParaRPr lang="en-US" b="1" dirty="0">
              <a:solidFill>
                <a:srgbClr val="239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BMI, BMR, Body Fat, Calories</a:t>
            </a:r>
            <a:endParaRPr lang="en-US" sz="16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64C16FC-7D02-A13F-E96E-E6AFE68233AA}"/>
              </a:ext>
            </a:extLst>
          </p:cNvPr>
          <p:cNvSpPr/>
          <p:nvPr/>
        </p:nvSpPr>
        <p:spPr>
          <a:xfrm>
            <a:off x="4321391" y="3064537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r>
              <a:rPr lang="en-US" dirty="0">
                <a:solidFill>
                  <a:srgbClr val="B75754"/>
                </a:solidFill>
              </a:rPr>
              <a:t> </a:t>
            </a:r>
            <a:r>
              <a:rPr lang="en-US" dirty="0"/>
              <a:t>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cs typeface="Calibri" pitchFamily="34" charset="-120"/>
              </a:rPr>
              <a:t>Finance</a:t>
            </a:r>
            <a:endParaRPr lang="en-US" b="1" dirty="0">
              <a:solidFill>
                <a:srgbClr val="239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SI, CI, EMI, ROI, Discount, TVM</a:t>
            </a:r>
            <a:endParaRPr lang="en-US" sz="16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C9C2770-993D-D6DE-E033-ED4A518C0F21}"/>
              </a:ext>
            </a:extLst>
          </p:cNvPr>
          <p:cNvSpPr/>
          <p:nvPr/>
        </p:nvSpPr>
        <p:spPr>
          <a:xfrm>
            <a:off x="8111512" y="3064537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r>
              <a:rPr lang="en-US" dirty="0"/>
              <a:t> 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Values, Find Side, Find Angle</a:t>
            </a:r>
            <a:endParaRPr lang="en-US" sz="16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C033890-6D51-7717-7254-54B4B687DB47}"/>
              </a:ext>
            </a:extLst>
          </p:cNvPr>
          <p:cNvSpPr/>
          <p:nvPr/>
        </p:nvSpPr>
        <p:spPr>
          <a:xfrm>
            <a:off x="531270" y="4671419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&lt;/&gt;</a:t>
            </a:r>
            <a:r>
              <a:rPr lang="en-US" b="1" dirty="0">
                <a:solidFill>
                  <a:srgbClr val="B75754"/>
                </a:solidFill>
              </a:rPr>
              <a:t> </a:t>
            </a:r>
            <a:r>
              <a:rPr lang="en-US" dirty="0">
                <a:solidFill>
                  <a:srgbClr val="B75754"/>
                </a:solidFill>
              </a:rPr>
              <a:t>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HEX/BIN/OCT, bitwise ops, 32-bit</a:t>
            </a:r>
            <a:endParaRPr lang="en-US" sz="16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79031902-F1A8-BBB7-6D15-42F9CF3663EC}"/>
              </a:ext>
            </a:extLst>
          </p:cNvPr>
          <p:cNvSpPr/>
          <p:nvPr/>
        </p:nvSpPr>
        <p:spPr>
          <a:xfrm>
            <a:off x="4321391" y="4671419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=X</a:t>
            </a:r>
            <a:r>
              <a:rPr lang="en-US" dirty="0">
                <a:solidFill>
                  <a:srgbClr val="B75754"/>
                </a:solidFill>
              </a:rPr>
              <a:t> 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Solver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Solve, differentiate, integrate, factor</a:t>
            </a:r>
            <a:endParaRPr lang="en-US" sz="16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BEE3098-22A5-DB4B-99FC-949088E78C07}"/>
              </a:ext>
            </a:extLst>
          </p:cNvPr>
          <p:cNvSpPr/>
          <p:nvPr/>
        </p:nvSpPr>
        <p:spPr>
          <a:xfrm>
            <a:off x="8111512" y="4671419"/>
            <a:ext cx="3468477" cy="142241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r>
              <a:rPr lang="en-US" dirty="0">
                <a:solidFill>
                  <a:srgbClr val="B75754"/>
                </a:solidFill>
              </a:rPr>
              <a:t> </a:t>
            </a:r>
            <a:r>
              <a:rPr lang="en-US" dirty="0"/>
              <a:t>  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 categories + live currency rates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386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4D9F-DA9E-BCFC-4015-3881ACA4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D3B82B74-90A0-1724-0C95-CAB2C9D5F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8">
            <a:extLst>
              <a:ext uri="{FF2B5EF4-FFF2-40B4-BE49-F238E27FC236}">
                <a16:creationId xmlns:a16="http://schemas.microsoft.com/office/drawing/2014/main" id="{6BB027BE-C25F-4821-1FC8-0EF69DA5804E}"/>
              </a:ext>
            </a:extLst>
          </p:cNvPr>
          <p:cNvSpPr/>
          <p:nvPr/>
        </p:nvSpPr>
        <p:spPr>
          <a:xfrm>
            <a:off x="531270" y="1144502"/>
            <a:ext cx="5228705" cy="3696355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92E2185-CB5D-B19E-2E10-2ECE9E3AFCDC}"/>
              </a:ext>
            </a:extLst>
          </p:cNvPr>
          <p:cNvSpPr/>
          <p:nvPr/>
        </p:nvSpPr>
        <p:spPr>
          <a:xfrm>
            <a:off x="396240" y="291492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0435E1F-ABF3-64D5-B599-506C67F093AA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5870A22-C887-2797-4D2A-9CB36FCEA325}"/>
              </a:ext>
            </a:extLst>
          </p:cNvPr>
          <p:cNvSpPr/>
          <p:nvPr/>
        </p:nvSpPr>
        <p:spPr>
          <a:xfrm>
            <a:off x="384047" y="68222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UI · Sidebar navigation  ·  Multiple modes</a:t>
            </a:r>
            <a:endParaRPr lang="en-US" sz="1200" dirty="0"/>
          </a:p>
        </p:txBody>
      </p:sp>
      <p:sp>
        <p:nvSpPr>
          <p:cNvPr id="4" name="Text 19">
            <a:extLst>
              <a:ext uri="{FF2B5EF4-FFF2-40B4-BE49-F238E27FC236}">
                <a16:creationId xmlns:a16="http://schemas.microsoft.com/office/drawing/2014/main" id="{3CF184B8-0070-4DBC-806E-2A4264677624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CBCDD21-7EE8-C3DC-6FA3-E7259AC33D7D}"/>
              </a:ext>
            </a:extLst>
          </p:cNvPr>
          <p:cNvSpPr/>
          <p:nvPr/>
        </p:nvSpPr>
        <p:spPr>
          <a:xfrm>
            <a:off x="228538" y="5192459"/>
            <a:ext cx="2818076" cy="1042079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pPr algn="ctr"/>
            <a:r>
              <a:rPr lang="en-US" sz="20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900x615x</a:t>
            </a:r>
          </a:p>
          <a:p>
            <a:pPr algn="ctr"/>
            <a:endParaRPr lang="en-US" sz="2000" dirty="0"/>
          </a:p>
          <a:p>
            <a:pPr algn="ctr"/>
            <a:r>
              <a:rPr lang="en-US" dirty="0">
                <a:latin typeface="Calibri" pitchFamily="34" charset="0"/>
                <a:cs typeface="Calibri" pitchFamily="34" charset="-120"/>
              </a:rPr>
              <a:t>Fixed window size</a:t>
            </a:r>
            <a:endParaRPr lang="en-US" dirty="0"/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1428AF85-FCDD-6B3A-15BC-E551EB0CF9D9}"/>
              </a:ext>
            </a:extLst>
          </p:cNvPr>
          <p:cNvSpPr/>
          <p:nvPr/>
        </p:nvSpPr>
        <p:spPr>
          <a:xfrm>
            <a:off x="6432025" y="1144501"/>
            <a:ext cx="5228705" cy="3696355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26B7D92-A562-AA4D-F228-AD7B1639ABA6}"/>
              </a:ext>
            </a:extLst>
          </p:cNvPr>
          <p:cNvSpPr/>
          <p:nvPr/>
        </p:nvSpPr>
        <p:spPr>
          <a:xfrm>
            <a:off x="3207586" y="5214516"/>
            <a:ext cx="2818076" cy="1042079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pPr algn="ctr"/>
            <a:r>
              <a:rPr lang="en-US" sz="20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+ Light</a:t>
            </a:r>
          </a:p>
          <a:p>
            <a:pPr algn="ctr"/>
            <a:endParaRPr lang="en-US" sz="2000" dirty="0"/>
          </a:p>
          <a:p>
            <a:pPr algn="ctr"/>
            <a:r>
              <a:rPr lang="en-US" dirty="0"/>
              <a:t>Theme toggle</a:t>
            </a: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2C14ABB5-711E-7BE0-A14F-2569F7A09AC9}"/>
              </a:ext>
            </a:extLst>
          </p:cNvPr>
          <p:cNvSpPr/>
          <p:nvPr/>
        </p:nvSpPr>
        <p:spPr>
          <a:xfrm>
            <a:off x="6186634" y="5214516"/>
            <a:ext cx="2818076" cy="1042079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pPr algn="ctr"/>
            <a:r>
              <a:rPr lang="en-US" sz="20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</a:p>
          <a:p>
            <a:pPr algn="ctr"/>
            <a:endParaRPr lang="en-US" sz="2000" dirty="0"/>
          </a:p>
          <a:p>
            <a:pPr algn="ctr"/>
            <a:r>
              <a:rPr lang="en-US" dirty="0">
                <a:latin typeface="Calibri" pitchFamily="34" charset="0"/>
                <a:cs typeface="Calibri" pitchFamily="34" charset="-120"/>
              </a:rPr>
              <a:t>Full Key Binding</a:t>
            </a:r>
            <a:endParaRPr lang="en-US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773376D-C9C6-1007-D792-46A9EE0D612F}"/>
              </a:ext>
            </a:extLst>
          </p:cNvPr>
          <p:cNvSpPr/>
          <p:nvPr/>
        </p:nvSpPr>
        <p:spPr>
          <a:xfrm>
            <a:off x="9165682" y="5214516"/>
            <a:ext cx="2818076" cy="1042079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pPr algn="ctr"/>
            <a:r>
              <a:rPr lang="en-US" sz="20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</a:p>
          <a:p>
            <a:pPr algn="ctr"/>
            <a:endParaRPr lang="en-US" sz="2000" dirty="0"/>
          </a:p>
          <a:p>
            <a:pPr algn="ctr"/>
            <a:r>
              <a:rPr lang="en-US" dirty="0">
                <a:latin typeface="Calibri" pitchFamily="34" charset="0"/>
                <a:cs typeface="Calibri" pitchFamily="34" charset="-120"/>
              </a:rPr>
              <a:t>50 entries + CSV</a:t>
            </a:r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EAF4B1-5260-ACFD-40A6-DB993F3D70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984" t="29985" r="27739" b="39183"/>
          <a:stretch>
            <a:fillRect/>
          </a:stretch>
        </p:blipFill>
        <p:spPr>
          <a:xfrm>
            <a:off x="630144" y="1328620"/>
            <a:ext cx="5009020" cy="3211232"/>
          </a:xfrm>
          <a:prstGeom prst="rect">
            <a:avLst/>
          </a:prstGeom>
        </p:spPr>
      </p:pic>
      <p:pic>
        <p:nvPicPr>
          <p:cNvPr id="16" name="Picture 15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C6AE6073-97D5-5178-5C56-85BBF098FB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42" t="6621" r="9211" b="8012"/>
          <a:stretch>
            <a:fillRect/>
          </a:stretch>
        </p:blipFill>
        <p:spPr>
          <a:xfrm>
            <a:off x="6747165" y="1202262"/>
            <a:ext cx="4502727" cy="356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98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F77F0-CE5E-E5DA-BC01-2BB5450A3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9">
            <a:extLst>
              <a:ext uri="{FF2B5EF4-FFF2-40B4-BE49-F238E27FC236}">
                <a16:creationId xmlns:a16="http://schemas.microsoft.com/office/drawing/2014/main" id="{25004DBD-8AF2-B637-2348-507FC72662EC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  <p:sp>
        <p:nvSpPr>
          <p:cNvPr id="2" name="Shape 18">
            <a:extLst>
              <a:ext uri="{FF2B5EF4-FFF2-40B4-BE49-F238E27FC236}">
                <a16:creationId xmlns:a16="http://schemas.microsoft.com/office/drawing/2014/main" id="{D677EB0A-5EFC-E9BA-9EE3-AD10E0EEDA84}"/>
              </a:ext>
            </a:extLst>
          </p:cNvPr>
          <p:cNvSpPr/>
          <p:nvPr/>
        </p:nvSpPr>
        <p:spPr>
          <a:xfrm>
            <a:off x="1625238" y="833952"/>
            <a:ext cx="4232198" cy="2789491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F92B13-A7E0-D62C-87AC-FE6FA453C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90" t="5522" r="2643" b="18242"/>
          <a:stretch>
            <a:fillRect/>
          </a:stretch>
        </p:blipFill>
        <p:spPr>
          <a:xfrm>
            <a:off x="1686394" y="847831"/>
            <a:ext cx="4109885" cy="2627568"/>
          </a:xfrm>
          <a:prstGeom prst="rect">
            <a:avLst/>
          </a:prstGeom>
        </p:spPr>
      </p:pic>
      <p:sp>
        <p:nvSpPr>
          <p:cNvPr id="5" name="Shape 18">
            <a:extLst>
              <a:ext uri="{FF2B5EF4-FFF2-40B4-BE49-F238E27FC236}">
                <a16:creationId xmlns:a16="http://schemas.microsoft.com/office/drawing/2014/main" id="{4C496DA2-E35D-A40D-B057-893E64A7D774}"/>
              </a:ext>
            </a:extLst>
          </p:cNvPr>
          <p:cNvSpPr/>
          <p:nvPr/>
        </p:nvSpPr>
        <p:spPr>
          <a:xfrm>
            <a:off x="1625238" y="3862288"/>
            <a:ext cx="4232198" cy="2789491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18">
            <a:extLst>
              <a:ext uri="{FF2B5EF4-FFF2-40B4-BE49-F238E27FC236}">
                <a16:creationId xmlns:a16="http://schemas.microsoft.com/office/drawing/2014/main" id="{D28BE7B0-8089-F125-46EF-7EA1F6392099}"/>
              </a:ext>
            </a:extLst>
          </p:cNvPr>
          <p:cNvSpPr/>
          <p:nvPr/>
        </p:nvSpPr>
        <p:spPr>
          <a:xfrm>
            <a:off x="6009836" y="3862288"/>
            <a:ext cx="4232198" cy="2789491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963E73CD-650F-69F4-2583-65C42FD8EA1C}"/>
              </a:ext>
            </a:extLst>
          </p:cNvPr>
          <p:cNvSpPr/>
          <p:nvPr/>
        </p:nvSpPr>
        <p:spPr>
          <a:xfrm>
            <a:off x="6009836" y="847831"/>
            <a:ext cx="4232198" cy="2789491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Picture 8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917ABC77-8A37-37F7-E6B8-7C35818432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5" t="5956" r="7135" b="13352"/>
          <a:stretch>
            <a:fillRect/>
          </a:stretch>
        </p:blipFill>
        <p:spPr>
          <a:xfrm>
            <a:off x="6187997" y="871230"/>
            <a:ext cx="3875876" cy="2714934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E2ECBD-2744-1BE5-7E2A-F0F87A772F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43" t="2145" r="1379" b="3946"/>
          <a:stretch>
            <a:fillRect/>
          </a:stretch>
        </p:blipFill>
        <p:spPr>
          <a:xfrm>
            <a:off x="6187997" y="4012230"/>
            <a:ext cx="4007505" cy="2489606"/>
          </a:xfrm>
          <a:prstGeom prst="rect">
            <a:avLst/>
          </a:prstGeom>
        </p:spPr>
      </p:pic>
      <p:pic>
        <p:nvPicPr>
          <p:cNvPr id="12" name="Picture 11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FE8225F4-0646-2B15-DD6E-C5966AA7ED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394" y="3965524"/>
            <a:ext cx="4122107" cy="2572347"/>
          </a:xfrm>
          <a:prstGeom prst="rect">
            <a:avLst/>
          </a:prstGeom>
        </p:spPr>
      </p:pic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E264AFC9-E0D7-0B7C-E87F-037897428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64004B49-8102-A898-3430-CF23D2316842}"/>
              </a:ext>
            </a:extLst>
          </p:cNvPr>
          <p:cNvSpPr/>
          <p:nvPr/>
        </p:nvSpPr>
        <p:spPr>
          <a:xfrm>
            <a:off x="396240" y="291492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3735F2F-9451-09C4-63EE-B4D2701A9A87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660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2601-C910-BCD0-1B67-771BCCA1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D81BA214-89EB-F140-8A73-A5AB357CE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ACCCDD9B-1AEE-B59A-250B-9B557FD3A0E6}"/>
              </a:ext>
            </a:extLst>
          </p:cNvPr>
          <p:cNvSpPr/>
          <p:nvPr/>
        </p:nvSpPr>
        <p:spPr>
          <a:xfrm>
            <a:off x="396240" y="291492"/>
            <a:ext cx="326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Tools Used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AEE44D4-52BC-9608-2A71-48F048223F5C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3DD7C854-7A91-A3CE-3726-6F7B28A2DBC4}"/>
              </a:ext>
            </a:extLst>
          </p:cNvPr>
          <p:cNvSpPr/>
          <p:nvPr/>
        </p:nvSpPr>
        <p:spPr>
          <a:xfrm>
            <a:off x="323088" y="1087120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b="1" dirty="0" err="1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b="1" dirty="0">
              <a:solidFill>
                <a:srgbClr val="239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Python GUI library. No install needed. Cross-platform window and widget system.</a:t>
            </a:r>
            <a:endParaRPr lang="en-US" sz="1400" dirty="0"/>
          </a:p>
          <a:p>
            <a:endParaRPr lang="en-US" b="1" dirty="0">
              <a:solidFill>
                <a:srgbClr val="239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1379D6A5-54C7-979A-0679-F047B43E5E57}"/>
              </a:ext>
            </a:extLst>
          </p:cNvPr>
          <p:cNvSpPr/>
          <p:nvPr/>
        </p:nvSpPr>
        <p:spPr>
          <a:xfrm>
            <a:off x="323088" y="2195385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math</a:t>
            </a:r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scientific functions: sin, cos, log, sqrt, factorial, hyperbolic, ceiling, floor.</a:t>
            </a:r>
            <a:endParaRPr lang="en-US" sz="1400" dirty="0"/>
          </a:p>
          <a:p>
            <a:endParaRPr lang="en-US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7B384B40-A023-9469-0F8C-9ED6D0CCA65F}"/>
              </a:ext>
            </a:extLst>
          </p:cNvPr>
          <p:cNvSpPr/>
          <p:nvPr/>
        </p:nvSpPr>
        <p:spPr>
          <a:xfrm>
            <a:off x="323087" y="3303650"/>
            <a:ext cx="5711951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b="1" dirty="0" err="1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dirty="0"/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loads calculation history to a local file so history persists between sessions.</a:t>
            </a:r>
            <a:endParaRPr lang="en-US" sz="1400" dirty="0"/>
          </a:p>
          <a:p>
            <a:endParaRPr lang="en-US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6E80A3BA-4B6A-14E9-EC74-CB9E70CA83E7}"/>
              </a:ext>
            </a:extLst>
          </p:cNvPr>
          <p:cNvSpPr/>
          <p:nvPr/>
        </p:nvSpPr>
        <p:spPr>
          <a:xfrm>
            <a:off x="335280" y="4424978"/>
            <a:ext cx="5699758" cy="78395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</a:t>
            </a:r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expressions: converts × → *, detects 5! → factorial(5), handles % notation.</a:t>
            </a:r>
            <a:endParaRPr lang="en-US" sz="1400" dirty="0"/>
          </a:p>
          <a:p>
            <a:endParaRPr lang="en-US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1F1EAACF-1147-EBF4-8A03-BDBBA612FFCA}"/>
              </a:ext>
            </a:extLst>
          </p:cNvPr>
          <p:cNvSpPr/>
          <p:nvPr/>
        </p:nvSpPr>
        <p:spPr>
          <a:xfrm>
            <a:off x="323087" y="5356741"/>
            <a:ext cx="5699758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b="1" dirty="0" err="1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b="1" dirty="0">
              <a:solidFill>
                <a:srgbClr val="239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finds roots of polynomials of any degree. Falls back to built-in for quadratics.</a:t>
            </a:r>
            <a:endParaRPr lang="en-US" sz="14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9460D22-824E-BE0F-34C3-AB3756AEEA51}"/>
              </a:ext>
            </a:extLst>
          </p:cNvPr>
          <p:cNvSpPr/>
          <p:nvPr/>
        </p:nvSpPr>
        <p:spPr>
          <a:xfrm>
            <a:off x="396240" y="675104"/>
            <a:ext cx="3403600" cy="261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library was chosen — not just what it is</a:t>
            </a:r>
            <a:endParaRPr lang="en-US" sz="1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C1971B5-8E8C-B6B5-6140-C9E520362C60}"/>
              </a:ext>
            </a:extLst>
          </p:cNvPr>
          <p:cNvSpPr/>
          <p:nvPr/>
        </p:nvSpPr>
        <p:spPr>
          <a:xfrm>
            <a:off x="6226048" y="1087120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b="1" dirty="0" err="1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b="1" dirty="0" err="1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SafeEval</a:t>
            </a:r>
            <a:endParaRPr lang="en-US" b="1" dirty="0">
              <a:solidFill>
                <a:srgbClr val="2391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parses math expressions into a syntax tree — prevents code injection instead of using raw eval().</a:t>
            </a:r>
            <a:endParaRPr lang="en-US" sz="1400" dirty="0"/>
          </a:p>
          <a:p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A21F99D-86FE-E139-86C9-B99D5FD4BC92}"/>
              </a:ext>
            </a:extLst>
          </p:cNvPr>
          <p:cNvSpPr/>
          <p:nvPr/>
        </p:nvSpPr>
        <p:spPr>
          <a:xfrm>
            <a:off x="6226048" y="2195385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statistics</a:t>
            </a:r>
            <a:endParaRPr lang="en-US" dirty="0"/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mode, variance, standard deviation — avoids reimplementing stat formulas.</a:t>
            </a:r>
            <a:endParaRPr lang="en-US" sz="1400" dirty="0"/>
          </a:p>
          <a:p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2A32887-0C7C-DBAE-802E-302134601E53}"/>
              </a:ext>
            </a:extLst>
          </p:cNvPr>
          <p:cNvSpPr/>
          <p:nvPr/>
        </p:nvSpPr>
        <p:spPr>
          <a:xfrm>
            <a:off x="6226047" y="3303650"/>
            <a:ext cx="5711951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csv</a:t>
            </a:r>
            <a:endParaRPr lang="en-US" dirty="0"/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history to a spreadsheet-compatible format in one click.</a:t>
            </a:r>
            <a:endParaRPr lang="en-US" sz="1400" dirty="0"/>
          </a:p>
          <a:p>
            <a:endParaRPr lang="en-US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05EF548-C062-A918-7235-3A09EF7163D4}"/>
              </a:ext>
            </a:extLst>
          </p:cNvPr>
          <p:cNvSpPr/>
          <p:nvPr/>
        </p:nvSpPr>
        <p:spPr>
          <a:xfrm>
            <a:off x="6238240" y="4424978"/>
            <a:ext cx="5699758" cy="78395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b="1" dirty="0" err="1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</a:t>
            </a:r>
            <a:endParaRPr lang="en-US" dirty="0"/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currency exchange rates from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(with offline fallback).</a:t>
            </a:r>
            <a:endParaRPr lang="en-US" sz="1400" dirty="0"/>
          </a:p>
          <a:p>
            <a:endParaRPr lang="en-US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C117C2B-9B1B-DC26-F51B-383E2E460238}"/>
              </a:ext>
            </a:extLst>
          </p:cNvPr>
          <p:cNvSpPr/>
          <p:nvPr/>
        </p:nvSpPr>
        <p:spPr>
          <a:xfrm>
            <a:off x="6226047" y="5356741"/>
            <a:ext cx="5699758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b="1" dirty="0" err="1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</a:t>
            </a:r>
            <a:endParaRPr lang="en-US" dirty="0"/>
          </a:p>
          <a:p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symbolic algebra — solves equations, derivatives, integrals, factoring.</a:t>
            </a:r>
            <a:endParaRPr lang="en-US" sz="1400" dirty="0"/>
          </a:p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56F492-18ED-54D7-E861-C6C623A87AFA}"/>
              </a:ext>
            </a:extLst>
          </p:cNvPr>
          <p:cNvSpPr/>
          <p:nvPr/>
        </p:nvSpPr>
        <p:spPr>
          <a:xfrm>
            <a:off x="517207" y="1270415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F6D7F6-851E-721D-EC1C-724D330FF0C1}"/>
              </a:ext>
            </a:extLst>
          </p:cNvPr>
          <p:cNvSpPr/>
          <p:nvPr/>
        </p:nvSpPr>
        <p:spPr>
          <a:xfrm>
            <a:off x="513408" y="2395898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D4395F-F28F-A529-CE9D-9E0265D7A5E7}"/>
              </a:ext>
            </a:extLst>
          </p:cNvPr>
          <p:cNvSpPr/>
          <p:nvPr/>
        </p:nvSpPr>
        <p:spPr>
          <a:xfrm>
            <a:off x="513408" y="4629966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E0655A-FD4B-7608-0248-925745DAE66F}"/>
              </a:ext>
            </a:extLst>
          </p:cNvPr>
          <p:cNvSpPr/>
          <p:nvPr/>
        </p:nvSpPr>
        <p:spPr>
          <a:xfrm>
            <a:off x="6395157" y="4616626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62AAEA-C651-7452-7BD7-C52B12BAC6BF}"/>
              </a:ext>
            </a:extLst>
          </p:cNvPr>
          <p:cNvSpPr/>
          <p:nvPr/>
        </p:nvSpPr>
        <p:spPr>
          <a:xfrm>
            <a:off x="6395159" y="1295582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52798B-63A5-D0A0-879D-13119769C5C8}"/>
              </a:ext>
            </a:extLst>
          </p:cNvPr>
          <p:cNvSpPr/>
          <p:nvPr/>
        </p:nvSpPr>
        <p:spPr>
          <a:xfrm>
            <a:off x="6395546" y="2395898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0B78DB-308F-2535-CF3A-43F7764DDE9D}"/>
              </a:ext>
            </a:extLst>
          </p:cNvPr>
          <p:cNvSpPr/>
          <p:nvPr/>
        </p:nvSpPr>
        <p:spPr>
          <a:xfrm>
            <a:off x="6395157" y="3498382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FFA91B-6F41-5502-219D-516715DE86D1}"/>
              </a:ext>
            </a:extLst>
          </p:cNvPr>
          <p:cNvSpPr/>
          <p:nvPr/>
        </p:nvSpPr>
        <p:spPr>
          <a:xfrm>
            <a:off x="6395157" y="5558554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AE7AC3-03F8-1C6F-A154-911097322CD8}"/>
              </a:ext>
            </a:extLst>
          </p:cNvPr>
          <p:cNvSpPr/>
          <p:nvPr/>
        </p:nvSpPr>
        <p:spPr>
          <a:xfrm>
            <a:off x="513408" y="3498382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F793E4-6578-772F-390A-CBEA3601393E}"/>
              </a:ext>
            </a:extLst>
          </p:cNvPr>
          <p:cNvSpPr/>
          <p:nvPr/>
        </p:nvSpPr>
        <p:spPr>
          <a:xfrm>
            <a:off x="513408" y="5558554"/>
            <a:ext cx="100965" cy="109728"/>
          </a:xfrm>
          <a:prstGeom prst="ellipse">
            <a:avLst/>
          </a:prstGeom>
          <a:solidFill>
            <a:srgbClr val="0A6B60"/>
          </a:solidFill>
          <a:ln>
            <a:solidFill>
              <a:srgbClr val="0A6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F5CACF21-D031-A292-4D4D-925AD0212D30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85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B66B-6AA8-56F3-DAA0-133DF9A7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209F7562-70C6-082E-19CF-27E2F9B1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19E8275A-D64B-48B4-A0BC-F0101449A9D7}"/>
              </a:ext>
            </a:extLst>
          </p:cNvPr>
          <p:cNvSpPr/>
          <p:nvPr/>
        </p:nvSpPr>
        <p:spPr>
          <a:xfrm>
            <a:off x="396240" y="291492"/>
            <a:ext cx="5052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How They Were Solved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20F6190-FF61-0F9F-D4E7-1DF689DB99B8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7733823C-14D6-A0DC-C940-DC6F84F15B4F}"/>
              </a:ext>
            </a:extLst>
          </p:cNvPr>
          <p:cNvSpPr/>
          <p:nvPr/>
        </p:nvSpPr>
        <p:spPr>
          <a:xfrm>
            <a:off x="323088" y="1087120"/>
            <a:ext cx="5711952" cy="1598096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Finding the right libraries</a:t>
            </a: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Researched alternatives to raw eval() — discovered 	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ast.NodeVisitor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safe, correct approach for parsing 	math expressions.</a:t>
            </a:r>
            <a:endParaRPr lang="en-US" sz="1500" dirty="0"/>
          </a:p>
          <a:p>
            <a:endParaRPr lang="en-US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2F656B84-B589-2A3E-AF82-85AE366E4A3E}"/>
              </a:ext>
            </a:extLst>
          </p:cNvPr>
          <p:cNvSpPr/>
          <p:nvPr/>
        </p:nvSpPr>
        <p:spPr>
          <a:xfrm>
            <a:off x="323088" y="2965550"/>
            <a:ext cx="5711952" cy="159268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Managing 9 different calculator modes</a:t>
            </a:r>
          </a:p>
          <a:p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Designed a shared app state pattern — each mode gets 	isolated 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StringVars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inputs, never touching the shared 	display.</a:t>
            </a:r>
            <a:endParaRPr lang="en-US" sz="1500" dirty="0"/>
          </a:p>
          <a:p>
            <a:endParaRPr lang="en-US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C8692542-4F8F-A183-31AD-59BA23F0B7BE}"/>
              </a:ext>
            </a:extLst>
          </p:cNvPr>
          <p:cNvSpPr/>
          <p:nvPr/>
        </p:nvSpPr>
        <p:spPr>
          <a:xfrm>
            <a:off x="323086" y="4847118"/>
            <a:ext cx="5711951" cy="1592679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Output concatenation bug</a:t>
            </a:r>
          </a:p>
          <a:p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Traced bug to shared 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StringVars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being written by multiple 	modules. Fixed by isolating all non-basic mode results to 	local variables.</a:t>
            </a:r>
            <a:endParaRPr lang="en-US" sz="1500" dirty="0"/>
          </a:p>
          <a:p>
            <a:endParaRPr lang="en-US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606AD96-B2A2-92D3-E2AD-1F673790CD6B}"/>
              </a:ext>
            </a:extLst>
          </p:cNvPr>
          <p:cNvSpPr/>
          <p:nvPr/>
        </p:nvSpPr>
        <p:spPr>
          <a:xfrm>
            <a:off x="453390" y="770354"/>
            <a:ext cx="3403600" cy="261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during development</a:t>
            </a:r>
            <a:endParaRPr lang="en-US" sz="1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66F0B05-A3B4-2AED-FF86-40BAE6C66F82}"/>
              </a:ext>
            </a:extLst>
          </p:cNvPr>
          <p:cNvSpPr/>
          <p:nvPr/>
        </p:nvSpPr>
        <p:spPr>
          <a:xfrm>
            <a:off x="6226048" y="1087120"/>
            <a:ext cx="5711952" cy="1598096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Polished, aesthetic UI in </a:t>
            </a:r>
            <a:r>
              <a:rPr lang="en-US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Built a custom 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ProButton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 from scratch using Canvas, 	drawing rounded rectangles and handling hover/click 	effects manually.</a:t>
            </a:r>
            <a:endParaRPr lang="en-US" sz="1500" dirty="0"/>
          </a:p>
          <a:p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CD31B6C-B726-2E7A-80B0-5E70B417049C}"/>
              </a:ext>
            </a:extLst>
          </p:cNvPr>
          <p:cNvSpPr/>
          <p:nvPr/>
        </p:nvSpPr>
        <p:spPr>
          <a:xfrm>
            <a:off x="6226048" y="2965549"/>
            <a:ext cx="5711952" cy="1592679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Keyboard + mouse working together</a:t>
            </a:r>
            <a:endParaRPr lang="en-US" dirty="0"/>
          </a:p>
          <a:p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Implemented focus detection (_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focused_is_entry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 	keyboard presses route correctly — to the active Entry	field or to the calculator buttons.</a:t>
            </a:r>
            <a:endParaRPr lang="en-US" sz="1500" dirty="0"/>
          </a:p>
          <a:p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E45CA27-93D8-1E83-CC35-29154079D73A}"/>
              </a:ext>
            </a:extLst>
          </p:cNvPr>
          <p:cNvSpPr/>
          <p:nvPr/>
        </p:nvSpPr>
        <p:spPr>
          <a:xfrm>
            <a:off x="6226049" y="4847117"/>
            <a:ext cx="5711951" cy="1592679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Theme switching across all widgets</a:t>
            </a:r>
          </a:p>
          <a:p>
            <a:endParaRPr lang="en-US" sz="15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Implemented T as a mutable </a:t>
            </a:r>
            <a:r>
              <a:rPr lang="en-US" sz="15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imported 	constants) so all widgets read live theme values at paint 	time rather than at creation time.</a:t>
            </a:r>
            <a:endParaRPr lang="en-US" sz="1500" dirty="0"/>
          </a:p>
          <a:p>
            <a:endParaRPr lang="en-US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C8C87AC-48E6-9306-F44B-F3D5A01E9BD5}"/>
              </a:ext>
            </a:extLst>
          </p:cNvPr>
          <p:cNvSpPr/>
          <p:nvPr/>
        </p:nvSpPr>
        <p:spPr>
          <a:xfrm>
            <a:off x="466908" y="1171560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B65854"/>
          </a:solidFill>
          <a:ln w="12700">
            <a:solidFill>
              <a:srgbClr val="B6585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Issue</a:t>
            </a: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D79C4669-FFF6-13FE-2621-0C0B5A1CDA54}"/>
              </a:ext>
            </a:extLst>
          </p:cNvPr>
          <p:cNvSpPr/>
          <p:nvPr/>
        </p:nvSpPr>
        <p:spPr>
          <a:xfrm>
            <a:off x="466908" y="1851681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239184"/>
          </a:solidFill>
          <a:ln w="12700">
            <a:solidFill>
              <a:srgbClr val="23918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A9DCFCC7-2BCC-301F-0EE2-654E8D9C3FA4}"/>
              </a:ext>
            </a:extLst>
          </p:cNvPr>
          <p:cNvSpPr/>
          <p:nvPr/>
        </p:nvSpPr>
        <p:spPr>
          <a:xfrm>
            <a:off x="453390" y="3071685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B65854"/>
          </a:solidFill>
          <a:ln w="12700">
            <a:solidFill>
              <a:srgbClr val="B6585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Issue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BC3D3DA5-B593-AC71-2B37-48893BBC66F6}"/>
              </a:ext>
            </a:extLst>
          </p:cNvPr>
          <p:cNvSpPr/>
          <p:nvPr/>
        </p:nvSpPr>
        <p:spPr>
          <a:xfrm>
            <a:off x="453390" y="3751806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239184"/>
          </a:solidFill>
          <a:ln w="12700">
            <a:solidFill>
              <a:srgbClr val="23918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07EDD72C-F3D7-BC95-3253-E3298111C95D}"/>
              </a:ext>
            </a:extLst>
          </p:cNvPr>
          <p:cNvSpPr/>
          <p:nvPr/>
        </p:nvSpPr>
        <p:spPr>
          <a:xfrm>
            <a:off x="453390" y="4985229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B65854"/>
          </a:solidFill>
          <a:ln w="12700">
            <a:solidFill>
              <a:srgbClr val="B6585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Issue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32686011-D981-F2E5-2F4D-BFDAED906BFF}"/>
              </a:ext>
            </a:extLst>
          </p:cNvPr>
          <p:cNvSpPr/>
          <p:nvPr/>
        </p:nvSpPr>
        <p:spPr>
          <a:xfrm>
            <a:off x="453390" y="5642772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239184"/>
          </a:solidFill>
          <a:ln w="12700">
            <a:solidFill>
              <a:srgbClr val="23918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B4F498EE-0466-C0A4-3BBD-CEDDBCC57A76}"/>
              </a:ext>
            </a:extLst>
          </p:cNvPr>
          <p:cNvSpPr/>
          <p:nvPr/>
        </p:nvSpPr>
        <p:spPr>
          <a:xfrm>
            <a:off x="6385702" y="4990430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B65854"/>
          </a:solidFill>
          <a:ln w="12700">
            <a:solidFill>
              <a:srgbClr val="B6585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Issue</a:t>
            </a: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0C320545-619E-AD90-0CCC-CE5ADD123508}"/>
              </a:ext>
            </a:extLst>
          </p:cNvPr>
          <p:cNvSpPr/>
          <p:nvPr/>
        </p:nvSpPr>
        <p:spPr>
          <a:xfrm>
            <a:off x="6385702" y="5625395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239184"/>
          </a:solidFill>
          <a:ln w="12700">
            <a:solidFill>
              <a:srgbClr val="23918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8F687897-B082-7967-4669-17E9136834E7}"/>
              </a:ext>
            </a:extLst>
          </p:cNvPr>
          <p:cNvSpPr/>
          <p:nvPr/>
        </p:nvSpPr>
        <p:spPr>
          <a:xfrm>
            <a:off x="6385702" y="3112695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B65854"/>
          </a:solidFill>
          <a:ln w="12700">
            <a:solidFill>
              <a:srgbClr val="B6585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Issue</a:t>
            </a: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9ECD929E-713F-008D-9DDD-7D0AF404D5AF}"/>
              </a:ext>
            </a:extLst>
          </p:cNvPr>
          <p:cNvSpPr/>
          <p:nvPr/>
        </p:nvSpPr>
        <p:spPr>
          <a:xfrm>
            <a:off x="6385702" y="3747660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239184"/>
          </a:solidFill>
          <a:ln w="12700">
            <a:solidFill>
              <a:srgbClr val="23918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6FE6106-614D-17C3-9250-B8CA71584480}"/>
              </a:ext>
            </a:extLst>
          </p:cNvPr>
          <p:cNvSpPr/>
          <p:nvPr/>
        </p:nvSpPr>
        <p:spPr>
          <a:xfrm>
            <a:off x="6385702" y="1234960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B65854"/>
          </a:solidFill>
          <a:ln w="12700">
            <a:solidFill>
              <a:srgbClr val="B6585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Issue</a:t>
            </a:r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E17F6930-01E0-09C6-283C-D25497BB514E}"/>
              </a:ext>
            </a:extLst>
          </p:cNvPr>
          <p:cNvSpPr/>
          <p:nvPr/>
        </p:nvSpPr>
        <p:spPr>
          <a:xfrm>
            <a:off x="6385702" y="1869925"/>
            <a:ext cx="752292" cy="360128"/>
          </a:xfrm>
          <a:prstGeom prst="roundRect">
            <a:avLst>
              <a:gd name="adj" fmla="val 33333"/>
            </a:avLst>
          </a:prstGeom>
          <a:solidFill>
            <a:srgbClr val="239184"/>
          </a:solidFill>
          <a:ln w="12700">
            <a:solidFill>
              <a:srgbClr val="239184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53758AC4-AAE9-ACF3-2320-D006EB347747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512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2980D-3970-5B0D-7E8B-5BC5823F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C655388A-228F-1B99-6A98-6B68F0BBC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CCF6056F-224D-AD17-B348-A5FEEAC8C278}"/>
              </a:ext>
            </a:extLst>
          </p:cNvPr>
          <p:cNvSpPr/>
          <p:nvPr/>
        </p:nvSpPr>
        <p:spPr>
          <a:xfrm>
            <a:off x="396240" y="291492"/>
            <a:ext cx="5052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Error Handling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64B4B8F7-BB7C-2BF2-D07B-8D329B577541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C7FFA64-9056-AC66-7EAF-D204C605919E}"/>
              </a:ext>
            </a:extLst>
          </p:cNvPr>
          <p:cNvSpPr/>
          <p:nvPr/>
        </p:nvSpPr>
        <p:spPr>
          <a:xfrm>
            <a:off x="453390" y="770354"/>
            <a:ext cx="3712210" cy="261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macOS · Python 3.13 · Results verified manually</a:t>
            </a:r>
            <a:endParaRPr lang="en-US" sz="1200" dirty="0"/>
          </a:p>
        </p:txBody>
      </p:sp>
      <p:sp>
        <p:nvSpPr>
          <p:cNvPr id="2" name="Text 19">
            <a:extLst>
              <a:ext uri="{FF2B5EF4-FFF2-40B4-BE49-F238E27FC236}">
                <a16:creationId xmlns:a16="http://schemas.microsoft.com/office/drawing/2014/main" id="{582C02EC-52D3-D1EB-F405-16352364BE9B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AE2CA-14FC-E263-2A94-86DCA9380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76" y="1635944"/>
            <a:ext cx="11810954" cy="360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2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956A-83E9-1E2B-92E5-539AAF55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B9937A98-9467-0BA8-BE74-E5AF61F80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6F7CAA34-C877-7CED-AA3F-712C4C7FD495}"/>
              </a:ext>
            </a:extLst>
          </p:cNvPr>
          <p:cNvSpPr/>
          <p:nvPr/>
        </p:nvSpPr>
        <p:spPr>
          <a:xfrm>
            <a:off x="396240" y="291492"/>
            <a:ext cx="5052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Error Handling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13806AE-F8BA-CF60-9BC5-527AA918EDE3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F7B4354-DD5D-8C28-E7A6-40E13CCA8C3C}"/>
              </a:ext>
            </a:extLst>
          </p:cNvPr>
          <p:cNvSpPr/>
          <p:nvPr/>
        </p:nvSpPr>
        <p:spPr>
          <a:xfrm>
            <a:off x="453390" y="770354"/>
            <a:ext cx="3712210" cy="261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macOS · Python 3.13 · Results verified manually</a:t>
            </a:r>
            <a:endParaRPr lang="en-US" sz="1200" dirty="0"/>
          </a:p>
        </p:txBody>
      </p:sp>
      <p:sp>
        <p:nvSpPr>
          <p:cNvPr id="2" name="Text 19">
            <a:extLst>
              <a:ext uri="{FF2B5EF4-FFF2-40B4-BE49-F238E27FC236}">
                <a16:creationId xmlns:a16="http://schemas.microsoft.com/office/drawing/2014/main" id="{6C5E2AE6-491B-0ABF-F2E9-9EB824DD06F7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  <p:pic>
        <p:nvPicPr>
          <p:cNvPr id="7" name="Picture 6" descr="A chart with different colored text&#10;&#10;AI-generated content may be incorrect.">
            <a:extLst>
              <a:ext uri="{FF2B5EF4-FFF2-40B4-BE49-F238E27FC236}">
                <a16:creationId xmlns:a16="http://schemas.microsoft.com/office/drawing/2014/main" id="{0FD3BEA5-8637-DFD4-F8D8-5FFE8762C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83" y="1508351"/>
            <a:ext cx="11803433" cy="43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91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403E-980E-82F9-0B86-0CBC00D9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FAA852A5-09AE-A020-8B77-6CDDBBB41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A3E23020-EA62-6B77-3632-C7F3CB475CF6}"/>
              </a:ext>
            </a:extLst>
          </p:cNvPr>
          <p:cNvSpPr/>
          <p:nvPr/>
        </p:nvSpPr>
        <p:spPr>
          <a:xfrm>
            <a:off x="396240" y="291492"/>
            <a:ext cx="271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2600" b="1" dirty="0" err="1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UltraCalc</a:t>
            </a:r>
            <a:r>
              <a:rPr lang="en-US" sz="26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38BE729-A507-3259-B91C-D88D03B7EB57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8DE9E0D5-1709-B113-A9F9-E3973FDBA9F4}"/>
              </a:ext>
            </a:extLst>
          </p:cNvPr>
          <p:cNvSpPr/>
          <p:nvPr/>
        </p:nvSpPr>
        <p:spPr>
          <a:xfrm>
            <a:off x="290264" y="1062110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Desktop App</a:t>
            </a:r>
            <a:endParaRPr lang="en-US" dirty="0"/>
          </a:p>
          <a:p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on Mac via Python 3.13. No browser, no internet required.</a:t>
            </a:r>
            <a:endParaRPr lang="en-US" dirty="0"/>
          </a:p>
          <a:p>
            <a:endParaRPr lang="en-US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9C076C7-2F96-CFB7-23F7-7676BBE2DD0D}"/>
              </a:ext>
            </a:extLst>
          </p:cNvPr>
          <p:cNvSpPr/>
          <p:nvPr/>
        </p:nvSpPr>
        <p:spPr>
          <a:xfrm>
            <a:off x="290264" y="2235690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  Dual Theme</a:t>
            </a:r>
          </a:p>
          <a:p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instantly between a sleek dark and clean light mode.</a:t>
            </a:r>
            <a:endParaRPr lang="en-US" dirty="0"/>
          </a:p>
          <a:p>
            <a:endParaRPr lang="en-US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F00CC370-E83F-D4CE-EE4C-D1CB092EEA4D}"/>
              </a:ext>
            </a:extLst>
          </p:cNvPr>
          <p:cNvSpPr/>
          <p:nvPr/>
        </p:nvSpPr>
        <p:spPr>
          <a:xfrm>
            <a:off x="290263" y="3409270"/>
            <a:ext cx="5711951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Keyboard + Mouse</a:t>
            </a:r>
            <a:endParaRPr lang="en-US" dirty="0"/>
          </a:p>
          <a:p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shortcuts alongside clickable rounded buttons.</a:t>
            </a:r>
            <a:endParaRPr lang="en-US" dirty="0"/>
          </a:p>
          <a:p>
            <a:endParaRPr lang="en-US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A5CFBC6-A35B-8733-5CB1-DE6EC01465BB}"/>
              </a:ext>
            </a:extLst>
          </p:cNvPr>
          <p:cNvSpPr/>
          <p:nvPr/>
        </p:nvSpPr>
        <p:spPr>
          <a:xfrm>
            <a:off x="302456" y="5713817"/>
            <a:ext cx="5699758" cy="67534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 History</a:t>
            </a:r>
          </a:p>
          <a:p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calculations exportable to CSV with one click.</a:t>
            </a:r>
            <a:endParaRPr lang="en-US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B2A31EB1-0D4D-7002-6639-50CD7ADEE901}"/>
              </a:ext>
            </a:extLst>
          </p:cNvPr>
          <p:cNvSpPr/>
          <p:nvPr/>
        </p:nvSpPr>
        <p:spPr>
          <a:xfrm>
            <a:off x="290263" y="4583027"/>
            <a:ext cx="5699758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3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9 Modes in One</a:t>
            </a:r>
            <a:endParaRPr lang="en-US" dirty="0"/>
          </a:p>
          <a:p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Scientific · Stats · Health · Finance · Trig · Programming · Equations · Converter</a:t>
            </a:r>
            <a:endParaRPr lang="en-US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02D09BCA-553E-709B-0CB3-8F302DF40A73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F5D3E1F4-9A76-8A59-C7BB-20C9DA95337B}"/>
              </a:ext>
            </a:extLst>
          </p:cNvPr>
          <p:cNvSpPr/>
          <p:nvPr/>
        </p:nvSpPr>
        <p:spPr>
          <a:xfrm>
            <a:off x="384047" y="69501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from existing calculators</a:t>
            </a:r>
            <a:endParaRPr lang="en-US" sz="12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89B35CC0-49ED-3BDB-F65C-BC445517FBA5}"/>
              </a:ext>
            </a:extLst>
          </p:cNvPr>
          <p:cNvSpPr/>
          <p:nvPr/>
        </p:nvSpPr>
        <p:spPr>
          <a:xfrm>
            <a:off x="6155090" y="1038664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0A6B60"/>
                </a:solidFill>
              </a:rPr>
              <a:t>🌐  </a:t>
            </a:r>
            <a:r>
              <a:rPr lang="en-IN" b="1" dirty="0">
                <a:solidFill>
                  <a:srgbClr val="0A6B60"/>
                </a:solidFill>
              </a:rPr>
              <a:t>Fully Offline</a:t>
            </a:r>
            <a:r>
              <a:rPr lang="en-IN" dirty="0">
                <a:solidFill>
                  <a:srgbClr val="0A6B60"/>
                </a:solidFill>
              </a:rPr>
              <a:t> </a:t>
            </a:r>
          </a:p>
          <a:p>
            <a:r>
              <a:rPr lang="en-IN" dirty="0"/>
              <a:t>No internet needed, runs completely offline with no external dependencies.</a:t>
            </a: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0F020FDC-0034-0B86-07E4-7BA5296343EA}"/>
              </a:ext>
            </a:extLst>
          </p:cNvPr>
          <p:cNvSpPr/>
          <p:nvPr/>
        </p:nvSpPr>
        <p:spPr>
          <a:xfrm>
            <a:off x="6155090" y="2212244"/>
            <a:ext cx="5711952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IN" dirty="0"/>
              <a:t>👨‍💻  </a:t>
            </a:r>
            <a:r>
              <a:rPr lang="en-IN" b="1" dirty="0">
                <a:solidFill>
                  <a:srgbClr val="0A6B60"/>
                </a:solidFill>
              </a:rPr>
              <a:t>Programmer Mode</a:t>
            </a:r>
            <a:endParaRPr lang="en-IN" dirty="0">
              <a:solidFill>
                <a:srgbClr val="0A6B60"/>
              </a:solidFill>
            </a:endParaRPr>
          </a:p>
          <a:p>
            <a:r>
              <a:rPr lang="en-IN" dirty="0"/>
              <a:t>Supports 32-bit operations for binary, octal, and hex calculations.</a:t>
            </a:r>
          </a:p>
          <a:p>
            <a:endParaRPr lang="en-IN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C69CE8DF-659B-8DDF-20EC-BD03EA8EFC07}"/>
              </a:ext>
            </a:extLst>
          </p:cNvPr>
          <p:cNvSpPr/>
          <p:nvPr/>
        </p:nvSpPr>
        <p:spPr>
          <a:xfrm>
            <a:off x="6155089" y="3385824"/>
            <a:ext cx="5711951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IN" dirty="0"/>
              <a:t>🧮  </a:t>
            </a:r>
            <a:r>
              <a:rPr lang="en-IN" b="1" dirty="0" err="1">
                <a:solidFill>
                  <a:srgbClr val="0A6B60"/>
                </a:solidFill>
              </a:rPr>
              <a:t>SymPy</a:t>
            </a:r>
            <a:r>
              <a:rPr lang="en-IN" b="1" dirty="0">
                <a:solidFill>
                  <a:srgbClr val="0A6B60"/>
                </a:solidFill>
              </a:rPr>
              <a:t>-Powered</a:t>
            </a:r>
            <a:r>
              <a:rPr lang="en-IN" dirty="0">
                <a:solidFill>
                  <a:srgbClr val="0A6B60"/>
                </a:solidFill>
              </a:rPr>
              <a:t> </a:t>
            </a:r>
          </a:p>
          <a:p>
            <a:r>
              <a:rPr lang="en-IN" dirty="0"/>
              <a:t>Solves real equations using symbolic math, not just approximations.</a:t>
            </a:r>
          </a:p>
          <a:p>
            <a:endParaRPr lang="en-US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483E7B3A-5031-84DE-4ECB-555F61D61691}"/>
              </a:ext>
            </a:extLst>
          </p:cNvPr>
          <p:cNvSpPr/>
          <p:nvPr/>
        </p:nvSpPr>
        <p:spPr>
          <a:xfrm>
            <a:off x="6167282" y="5690371"/>
            <a:ext cx="5699758" cy="67534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IN" dirty="0"/>
              <a:t>🚫  </a:t>
            </a:r>
            <a:r>
              <a:rPr lang="en-IN" b="1" dirty="0">
                <a:solidFill>
                  <a:srgbClr val="0A6B60"/>
                </a:solidFill>
              </a:rPr>
              <a:t>Ad-Free &amp; Private</a:t>
            </a:r>
            <a:r>
              <a:rPr lang="en-IN" dirty="0">
                <a:solidFill>
                  <a:srgbClr val="0A6B60"/>
                </a:solidFill>
              </a:rPr>
              <a:t> </a:t>
            </a:r>
          </a:p>
          <a:p>
            <a:r>
              <a:rPr lang="en-IN" dirty="0"/>
              <a:t>No ads, no subscriptions, no tracking of any kind.</a:t>
            </a: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AC5CA1CA-2A3E-538E-0C2B-D4C75BE2585E}"/>
              </a:ext>
            </a:extLst>
          </p:cNvPr>
          <p:cNvSpPr/>
          <p:nvPr/>
        </p:nvSpPr>
        <p:spPr>
          <a:xfrm>
            <a:off x="6155089" y="4559581"/>
            <a:ext cx="5699758" cy="982472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IN" dirty="0"/>
              <a:t>📐  </a:t>
            </a:r>
            <a:r>
              <a:rPr lang="en-IN" b="1" dirty="0">
                <a:solidFill>
                  <a:srgbClr val="0A6B60"/>
                </a:solidFill>
              </a:rPr>
              <a:t>Trig, Health &amp; Stats</a:t>
            </a:r>
            <a:r>
              <a:rPr lang="en-IN" dirty="0">
                <a:solidFill>
                  <a:srgbClr val="0A6B60"/>
                </a:solidFill>
              </a:rPr>
              <a:t> </a:t>
            </a:r>
          </a:p>
          <a:p>
            <a:r>
              <a:rPr lang="en-IN" dirty="0"/>
              <a:t>All advanced calculator modes packed into a single window.</a:t>
            </a:r>
          </a:p>
        </p:txBody>
      </p:sp>
    </p:spTree>
    <p:extLst>
      <p:ext uri="{BB962C8B-B14F-4D97-AF65-F5344CB8AC3E}">
        <p14:creationId xmlns:p14="http://schemas.microsoft.com/office/powerpoint/2010/main" val="4077876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444D-5889-C19E-F426-49A5FFBB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33C097EF-0628-D081-45BE-FC2070D49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919B6855-E9B8-E796-E9A9-BC2CB30C51FD}"/>
              </a:ext>
            </a:extLst>
          </p:cNvPr>
          <p:cNvSpPr/>
          <p:nvPr/>
        </p:nvSpPr>
        <p:spPr>
          <a:xfrm>
            <a:off x="396240" y="291492"/>
            <a:ext cx="5052060" cy="65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>
              <a:solidFill>
                <a:srgbClr val="0A6B60"/>
              </a:solidFill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2F9CBAA3-A1A9-43D9-0E1D-8D205525268E}"/>
              </a:ext>
            </a:extLst>
          </p:cNvPr>
          <p:cNvSpPr/>
          <p:nvPr/>
        </p:nvSpPr>
        <p:spPr>
          <a:xfrm>
            <a:off x="396240" y="268124"/>
            <a:ext cx="2011680" cy="64008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25">
            <a:extLst>
              <a:ext uri="{FF2B5EF4-FFF2-40B4-BE49-F238E27FC236}">
                <a16:creationId xmlns:a16="http://schemas.microsoft.com/office/drawing/2014/main" id="{78EC34C9-AD81-5240-E9A5-639B9E7B4C32}"/>
              </a:ext>
            </a:extLst>
          </p:cNvPr>
          <p:cNvSpPr/>
          <p:nvPr/>
        </p:nvSpPr>
        <p:spPr>
          <a:xfrm>
            <a:off x="177583" y="974140"/>
            <a:ext cx="5726261" cy="1685171"/>
          </a:xfrm>
          <a:prstGeom prst="roundRect">
            <a:avLst>
              <a:gd name="adj" fmla="val 2608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Runtime</a:t>
            </a:r>
          </a:p>
          <a:p>
            <a:endParaRPr lang="en-US" b="1" dirty="0">
              <a:solidFill>
                <a:srgbClr val="33D2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Python 3 Official Docs — </a:t>
            </a:r>
            <a:r>
              <a:rPr lang="en-US" sz="17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</a:t>
            </a:r>
            <a:endParaRPr lang="en-US" sz="1700" dirty="0"/>
          </a:p>
          <a:p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Python </a:t>
            </a:r>
            <a:r>
              <a:rPr lang="en-US" sz="17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module — </a:t>
            </a:r>
            <a:r>
              <a:rPr lang="en-US" sz="17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/3/library/</a:t>
            </a:r>
            <a:r>
              <a:rPr lang="en-US" sz="17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ast.html</a:t>
            </a:r>
            <a:endParaRPr lang="en-US" sz="1700" dirty="0"/>
          </a:p>
        </p:txBody>
      </p:sp>
      <p:sp>
        <p:nvSpPr>
          <p:cNvPr id="18" name="Shape 25">
            <a:extLst>
              <a:ext uri="{FF2B5EF4-FFF2-40B4-BE49-F238E27FC236}">
                <a16:creationId xmlns:a16="http://schemas.microsoft.com/office/drawing/2014/main" id="{0BF966B1-4D1E-152B-B554-3E1EE25900CB}"/>
              </a:ext>
            </a:extLst>
          </p:cNvPr>
          <p:cNvSpPr/>
          <p:nvPr/>
        </p:nvSpPr>
        <p:spPr>
          <a:xfrm>
            <a:off x="6215270" y="950771"/>
            <a:ext cx="5726261" cy="1708539"/>
          </a:xfrm>
          <a:prstGeom prst="roundRect">
            <a:avLst>
              <a:gd name="adj" fmla="val 2608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dirty="0"/>
          </a:p>
          <a:p>
            <a:endParaRPr lang="en-US" b="1" dirty="0">
              <a:solidFill>
                <a:srgbClr val="33D2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Reference —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/3/library/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tkinter.html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TkDocs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Tutorial —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tkdocs.com</a:t>
            </a:r>
            <a:endParaRPr lang="en-US" dirty="0"/>
          </a:p>
        </p:txBody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A50504C6-EDF5-6508-FFCA-4C86D450869A}"/>
              </a:ext>
            </a:extLst>
          </p:cNvPr>
          <p:cNvSpPr/>
          <p:nvPr/>
        </p:nvSpPr>
        <p:spPr>
          <a:xfrm>
            <a:off x="197461" y="2847954"/>
            <a:ext cx="5726261" cy="1708539"/>
          </a:xfrm>
          <a:prstGeom prst="roundRect">
            <a:avLst>
              <a:gd name="adj" fmla="val 2608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Math</a:t>
            </a:r>
            <a:endParaRPr lang="en-US" dirty="0"/>
          </a:p>
          <a:p>
            <a:endParaRPr lang="en-US" b="1" dirty="0">
              <a:solidFill>
                <a:srgbClr val="33D2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SymPy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Documentation —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docs.sympy.org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SymPy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Parser &amp; Transformations —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sympy.org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dirty="0"/>
          </a:p>
        </p:txBody>
      </p:sp>
      <p:sp>
        <p:nvSpPr>
          <p:cNvPr id="20" name="Shape 25">
            <a:extLst>
              <a:ext uri="{FF2B5EF4-FFF2-40B4-BE49-F238E27FC236}">
                <a16:creationId xmlns:a16="http://schemas.microsoft.com/office/drawing/2014/main" id="{006DDD5E-B158-C294-5FE9-05B92D8203E2}"/>
              </a:ext>
            </a:extLst>
          </p:cNvPr>
          <p:cNvSpPr/>
          <p:nvPr/>
        </p:nvSpPr>
        <p:spPr>
          <a:xfrm>
            <a:off x="6235148" y="2847954"/>
            <a:ext cx="5726261" cy="1708539"/>
          </a:xfrm>
          <a:prstGeom prst="roundRect">
            <a:avLst>
              <a:gd name="adj" fmla="val 2608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Formulas</a:t>
            </a:r>
            <a:endParaRPr lang="en-US" dirty="0"/>
          </a:p>
          <a:p>
            <a:endParaRPr lang="en-US" b="1" dirty="0">
              <a:solidFill>
                <a:srgbClr val="33D2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EMI Formula — RBI guidelines reference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TVM (Time Value of Money) —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Investopedia.com</a:t>
            </a:r>
            <a:endParaRPr lang="en-US" dirty="0"/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D11E8632-8306-2753-F311-E0389ED2D36D}"/>
              </a:ext>
            </a:extLst>
          </p:cNvPr>
          <p:cNvSpPr/>
          <p:nvPr/>
        </p:nvSpPr>
        <p:spPr>
          <a:xfrm>
            <a:off x="197461" y="4735395"/>
            <a:ext cx="5726261" cy="1703930"/>
          </a:xfrm>
          <a:prstGeom prst="roundRect">
            <a:avLst>
              <a:gd name="adj" fmla="val 2608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Formulas</a:t>
            </a:r>
          </a:p>
          <a:p>
            <a:endParaRPr lang="en-US" b="1" dirty="0">
              <a:solidFill>
                <a:srgbClr val="33D2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US Navy Body Fat Method — NASM reference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Mifflin-St Jeor BMR Equation —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pubmed.ncbi.nlm.nih.gov</a:t>
            </a:r>
            <a:endParaRPr lang="en-US" dirty="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304697FD-E4A7-C6DA-02A5-1D050BD8CC94}"/>
              </a:ext>
            </a:extLst>
          </p:cNvPr>
          <p:cNvSpPr/>
          <p:nvPr/>
        </p:nvSpPr>
        <p:spPr>
          <a:xfrm>
            <a:off x="6235147" y="4745137"/>
            <a:ext cx="5726261" cy="1703930"/>
          </a:xfrm>
          <a:prstGeom prst="roundRect">
            <a:avLst>
              <a:gd name="adj" fmla="val 26087"/>
            </a:avLst>
          </a:prstGeom>
          <a:solidFill>
            <a:srgbClr val="E6FAF8"/>
          </a:solidFill>
          <a:ln w="9525">
            <a:solidFill>
              <a:srgbClr val="D1FAF5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33D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API</a:t>
            </a:r>
          </a:p>
          <a:p>
            <a:endParaRPr lang="en-US" b="1" dirty="0">
              <a:solidFill>
                <a:srgbClr val="33D2BF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-API —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exchangerate-api.com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 Free tier used: v6.exchangerate-api.com/v6/{key}/latest/USD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621153C-0360-6E91-6AAF-DA2838FEAF32}"/>
              </a:ext>
            </a:extLst>
          </p:cNvPr>
          <p:cNvSpPr/>
          <p:nvPr/>
        </p:nvSpPr>
        <p:spPr>
          <a:xfrm>
            <a:off x="39624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Currently tested and optimised for laptop &amp; desktop only — mobile compatibility not yet verified</a:t>
            </a:r>
            <a:endParaRPr lang="en-US" sz="1000" dirty="0">
              <a:solidFill>
                <a:srgbClr val="B757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418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16DD-138D-109A-621D-BFD29F60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3">
            <a:extLst>
              <a:ext uri="{FF2B5EF4-FFF2-40B4-BE49-F238E27FC236}">
                <a16:creationId xmlns:a16="http://schemas.microsoft.com/office/drawing/2014/main" id="{0F351D20-1BD2-AE25-54D0-5E5A6F6BCCBB}"/>
              </a:ext>
            </a:extLst>
          </p:cNvPr>
          <p:cNvSpPr/>
          <p:nvPr/>
        </p:nvSpPr>
        <p:spPr>
          <a:xfrm>
            <a:off x="1741122" y="1572999"/>
            <a:ext cx="9172042" cy="347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0" b="1" dirty="0">
                <a:solidFill>
                  <a:srgbClr val="0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3800" dirty="0">
              <a:solidFill>
                <a:srgbClr val="0A6B60"/>
              </a:solidFill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02775D2F-74D3-AA0D-B887-A8BB3F5AF4B1}"/>
              </a:ext>
            </a:extLst>
          </p:cNvPr>
          <p:cNvSpPr/>
          <p:nvPr/>
        </p:nvSpPr>
        <p:spPr>
          <a:xfrm>
            <a:off x="1999536" y="4175610"/>
            <a:ext cx="2678635" cy="108144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Picture 2" descr="logo">
            <a:extLst>
              <a:ext uri="{FF2B5EF4-FFF2-40B4-BE49-F238E27FC236}">
                <a16:creationId xmlns:a16="http://schemas.microsoft.com/office/drawing/2014/main" id="{F17317E5-4DA8-57DF-F13D-55210AA1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844" y="-10886"/>
            <a:ext cx="2273156" cy="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456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1118</Words>
  <Application>Microsoft Macintosh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srishtisharma3006@outlook.com</dc:creator>
  <cp:lastModifiedBy>srishtisharma3006@outlook.com</cp:lastModifiedBy>
  <cp:revision>10</cp:revision>
  <dcterms:created xsi:type="dcterms:W3CDTF">2026-06-23T16:03:43Z</dcterms:created>
  <dcterms:modified xsi:type="dcterms:W3CDTF">2026-06-25T11:40:05Z</dcterms:modified>
</cp:coreProperties>
</file>